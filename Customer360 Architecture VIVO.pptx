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Rajdhani" panose="020B060402020202020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57A7931-4040-48F4-AB53-43AF096A9C82}">
  <a:tblStyle styleId="{557A7931-4040-48F4-AB53-43AF096A9C8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422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35605" y="2092672"/>
            <a:ext cx="632079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CUSTOMER 360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3086100" y="3246171"/>
            <a:ext cx="6019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Ponto Único de Consulta | VIVO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762000" y="762000"/>
            <a:ext cx="500062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O DESAFIO &amp; VISÃO</a:t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571500" y="762000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71500" y="1814512"/>
            <a:ext cx="52006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PONTO ÚNICO DE VERDADE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2490787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Superar a fragmentação de dados entre Sistemas de Registro (SORs), Legados e Salesforce para criar uma visão unificada.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704850" y="399573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09625" y="3995737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Meta de Latência: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Resposta abaixo de 1ms.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704850" y="439578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809625" y="4395787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Objetivo: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Consultar o "Melhor Dado" em um único ponto (API).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704850" y="5100637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809625" y="5100637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Solução: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Cliente Data Hub (CDH) baseado em Arquitetura Orientada a Eventos (EDA).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6096000" y="0"/>
            <a:ext cx="6096000" cy="6858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742950"/>
            <a:ext cx="5334000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742950"/>
            <a:ext cx="5334000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105275"/>
            <a:ext cx="5334000" cy="298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105275"/>
            <a:ext cx="5334000" cy="29813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748188" y="1790700"/>
            <a:ext cx="498062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DATA HUB READ-STORE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66775" y="2324100"/>
            <a:ext cx="4743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Fonte única de consulta (Customer Query API) alimentada por um modelo de dados desnormalizado e em memória.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463188" y="1790700"/>
            <a:ext cx="498062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EVENT-DRIVEN (CDC)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6581775" y="2324100"/>
            <a:ext cx="4743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Alimentação contínua via Change Data Capture (CDC) e mensageria vinda dos legados e do Salesforce.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748188" y="5153025"/>
            <a:ext cx="498062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ENRIQUECIMENTO &amp; MDM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866775" y="5686425"/>
            <a:ext cx="4743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Pipeline robusto de regras de precedência e Master Data Management para garantir a qualidade do dado.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463188" y="5153025"/>
            <a:ext cx="498062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ULTRA-FAST ACCESS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6581775" y="5686425"/>
            <a:ext cx="4743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Persistência de vistas prontas em Redis e Elastic. A API nunca consulta sistemas legados online.</a:t>
            </a:r>
            <a:endParaRPr/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038475" y="108585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724900" y="10858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009900" y="44481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53475" y="44481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5"/>
          <p:cNvSpPr txBox="1"/>
          <p:nvPr/>
        </p:nvSpPr>
        <p:spPr>
          <a:xfrm>
            <a:off x="748200" y="0"/>
            <a:ext cx="11401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ESTRATÉGIA RESUMIDA</a:t>
            </a:r>
            <a:endParaRPr/>
          </a:p>
        </p:txBody>
      </p:sp>
      <p:sp>
        <p:nvSpPr>
          <p:cNvPr id="126" name="Google Shape;126;p15"/>
          <p:cNvSpPr/>
          <p:nvPr/>
        </p:nvSpPr>
        <p:spPr>
          <a:xfrm>
            <a:off x="571500" y="-228600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762000" y="762000"/>
            <a:ext cx="500062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FLUXO DE DADOS &amp; ARQUITETURA</a:t>
            </a:r>
            <a:endParaRPr/>
          </a:p>
        </p:txBody>
      </p:sp>
      <p:sp>
        <p:nvSpPr>
          <p:cNvPr id="133" name="Google Shape;133;p16"/>
          <p:cNvSpPr/>
          <p:nvPr/>
        </p:nvSpPr>
        <p:spPr>
          <a:xfrm>
            <a:off x="571500" y="762000"/>
            <a:ext cx="47625" cy="11811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571500" y="25146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O fluxo desacopla completamente a leitura da escrita.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704850" y="31813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09625" y="3181350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Origem: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Salesforce &amp; Oracle Legacy (via Debezium/CDC).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04850" y="38862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09625" y="3886200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Transporte: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Tópicos Kafka garantem a ordenação e entrega.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704850" y="45910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09625" y="4591050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Processamento: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Stream Processors aplicam regras de negócio.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704850" y="52959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09625" y="5295900"/>
            <a:ext cx="4714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Consolidação: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MDM Service gera o "Golden Record".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704850" y="60007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6000750"/>
            <a:ext cx="4714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Destino: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Redis (Hot Data) e Elastic (Search Index).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6096000" y="0"/>
            <a:ext cx="6096000" cy="73342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095375"/>
            <a:ext cx="3492400" cy="267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1095375"/>
            <a:ext cx="3492549" cy="267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1095375"/>
            <a:ext cx="3492400" cy="267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57650"/>
            <a:ext cx="3492400" cy="267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4057650"/>
            <a:ext cx="3492549" cy="267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4057650"/>
            <a:ext cx="3492400" cy="2676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794228" y="2143125"/>
            <a:ext cx="30469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API GATEWAY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66775" y="2676525"/>
            <a:ext cx="29018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Kong ou AWS/Azure API Gateway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4572375" y="2143125"/>
            <a:ext cx="30470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MICROSSERVIÇOS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4644925" y="2676525"/>
            <a:ext cx="290199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Spring Boot (Java) ou Quarkus (Java/Kotlin)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350679" y="2143125"/>
            <a:ext cx="30469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BROKER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423225" y="2676525"/>
            <a:ext cx="29018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Apache Kafka ou RabbitMQ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794228" y="5105400"/>
            <a:ext cx="30469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CACHE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866775" y="5638800"/>
            <a:ext cx="29018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Redis ou Hazelcast (Read-Store)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4572375" y="5105400"/>
            <a:ext cx="30470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DATABASE (SSOT)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4644925" y="5638800"/>
            <a:ext cx="2901999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PostgreSQL ou MongoDB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8350679" y="5105400"/>
            <a:ext cx="30469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CDC (LEGACY)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8423225" y="5638800"/>
            <a:ext cx="29018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Debezium</a:t>
            </a:r>
            <a:endParaRPr/>
          </a:p>
        </p:txBody>
      </p:sp>
      <p:pic>
        <p:nvPicPr>
          <p:cNvPr id="170" name="Google Shape;17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89100" y="14382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67251" y="14382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45550" y="143827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60525" y="440055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895826" y="440055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7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645550" y="440055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7"/>
          <p:cNvSpPr txBox="1"/>
          <p:nvPr/>
        </p:nvSpPr>
        <p:spPr>
          <a:xfrm>
            <a:off x="762000" y="123825"/>
            <a:ext cx="1140142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FRAMEWORKS E TECNOLOGIAS</a:t>
            </a:r>
            <a:endParaRPr/>
          </a:p>
        </p:txBody>
      </p:sp>
      <p:sp>
        <p:nvSpPr>
          <p:cNvPr id="177" name="Google Shape;177;p17"/>
          <p:cNvSpPr/>
          <p:nvPr/>
        </p:nvSpPr>
        <p:spPr>
          <a:xfrm>
            <a:off x="571500" y="123825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152650"/>
            <a:ext cx="5286375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8"/>
          <p:cNvSpPr txBox="1"/>
          <p:nvPr/>
        </p:nvSpPr>
        <p:spPr>
          <a:xfrm>
            <a:off x="571500" y="233362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1. REGRAS DE DEFINIÇÃO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571500" y="2867025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Definição lógica de qual sistema é a Fonte de Verdade (System of Record) para cada atributo específico do cliente.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571500" y="416242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2. MODELO CANÔNICO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571500" y="4695825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Estrutura de dados padrão, única e centralizada usada pelo CDH para armazenar o Golden Record.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6753225" y="2543175"/>
            <a:ext cx="47005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rPr>
              <a:t>FLUXO DE ESCRITA (ASYNC)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6753225" y="3038475"/>
            <a:ext cx="4476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Alteração no CRM ou Legado.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6753225" y="3533775"/>
            <a:ext cx="4476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43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Publicação de Evento (CDC/Broker).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6753225" y="402907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333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Customer Sync Worker</a:t>
            </a: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consome e aplica regras.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6753225" y="4829175"/>
            <a:ext cx="4476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Atualização do Customer360 DB.</a:t>
            </a:r>
            <a:endParaRPr/>
          </a:p>
        </p:txBody>
      </p:sp>
      <p:pic>
        <p:nvPicPr>
          <p:cNvPr id="193" name="Google Shape;19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53225" y="3095625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53225" y="3590925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53225" y="4086225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53225" y="4886325"/>
            <a:ext cx="17145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8"/>
          <p:cNvSpPr txBox="1"/>
          <p:nvPr/>
        </p:nvSpPr>
        <p:spPr>
          <a:xfrm>
            <a:off x="762000" y="571500"/>
            <a:ext cx="1140142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GOLDEN RECORD E CONSOLIDAÇÃO</a:t>
            </a: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571500" y="571500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247900"/>
            <a:ext cx="5286375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257425"/>
            <a:ext cx="526732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9"/>
          <p:cNvSpPr txBox="1"/>
          <p:nvPr/>
        </p:nvSpPr>
        <p:spPr>
          <a:xfrm>
            <a:off x="704850" y="22574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7" name="Google Shape;207;p19"/>
          <p:cNvSpPr txBox="1"/>
          <p:nvPr/>
        </p:nvSpPr>
        <p:spPr>
          <a:xfrm>
            <a:off x="809625" y="225742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Prioridade do Cache: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A API consulta primeiramente o Redis. Cache Hit = Resposta imediata.</a:t>
            </a:r>
            <a:endParaRPr/>
          </a:p>
        </p:txBody>
      </p:sp>
      <p:sp>
        <p:nvSpPr>
          <p:cNvPr id="208" name="Google Shape;208;p19"/>
          <p:cNvSpPr txBox="1"/>
          <p:nvPr/>
        </p:nvSpPr>
        <p:spPr>
          <a:xfrm>
            <a:off x="704850" y="34575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809625" y="345757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Atualização Controlada: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O Sync Worker é o único responsável por invalidar ou atualizar chaves, garantindo consistência.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704850" y="46577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09625" y="4657725"/>
            <a:ext cx="5048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APIficação TMF632: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Aderência a padrões globais de Telecom para interoperabilidade.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762000" y="571500"/>
            <a:ext cx="1140142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PERFORMANCE: COMO ATINGIR &lt; 1MS?</a:t>
            </a:r>
            <a:endParaRPr/>
          </a:p>
        </p:txBody>
      </p:sp>
      <p:sp>
        <p:nvSpPr>
          <p:cNvPr id="213" name="Google Shape;213;p19"/>
          <p:cNvSpPr/>
          <p:nvPr/>
        </p:nvSpPr>
        <p:spPr>
          <a:xfrm>
            <a:off x="571500" y="571500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0"/>
          <p:cNvSpPr txBox="1"/>
          <p:nvPr/>
        </p:nvSpPr>
        <p:spPr>
          <a:xfrm>
            <a:off x="762000" y="762000"/>
            <a:ext cx="500062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RESILIÊNCIA E ROBUSTEZ</a:t>
            </a:r>
            <a:endParaRPr/>
          </a:p>
        </p:txBody>
      </p:sp>
      <p:sp>
        <p:nvSpPr>
          <p:cNvPr id="220" name="Google Shape;220;p20"/>
          <p:cNvSpPr/>
          <p:nvPr/>
        </p:nvSpPr>
        <p:spPr>
          <a:xfrm>
            <a:off x="571500" y="762000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" name="Google Shape;22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571500" y="1733550"/>
            <a:ext cx="52006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19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PERSISTÊNCIA KAFKA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571500" y="22669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Consistência eventual garantida. Se o Worker falhar, eventos são retidos e processados na volta.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571500" y="3257550"/>
            <a:ext cx="52006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333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DEAD LETTER QUEUE (DLQ)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571500" y="37909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Mensagens com erro ("poison pills") são isoladas para não travar o tópico.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571500" y="4781550"/>
            <a:ext cx="520065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19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CIRCUIT BREAKER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571500" y="53149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Protege a API de falhas no Redis/DB, permitindo fallback gracioso.</a:t>
            </a:r>
            <a:endParaRPr/>
          </a:p>
        </p:txBody>
      </p:sp>
      <p:pic>
        <p:nvPicPr>
          <p:cNvPr id="228" name="Google Shape;22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75260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276600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80060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0"/>
          <p:cNvSpPr/>
          <p:nvPr/>
        </p:nvSpPr>
        <p:spPr>
          <a:xfrm>
            <a:off x="6096000" y="0"/>
            <a:ext cx="6096000" cy="687705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04219"/>
            <a:ext cx="11049000" cy="300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1"/>
          <p:cNvSpPr txBox="1"/>
          <p:nvPr/>
        </p:nvSpPr>
        <p:spPr>
          <a:xfrm>
            <a:off x="571500" y="2213669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 arquitetura segue padrões da indústria para facilitar a interoperabilidade.</a:t>
            </a:r>
            <a:endParaRPr/>
          </a:p>
        </p:txBody>
      </p:sp>
      <p:graphicFrame>
        <p:nvGraphicFramePr>
          <p:cNvPr id="239" name="Google Shape;239;p21"/>
          <p:cNvGraphicFramePr/>
          <p:nvPr>
            <p:extLst>
              <p:ext uri="{D42A27DB-BD31-4B8C-83A1-F6EECF244321}">
                <p14:modId xmlns:p14="http://schemas.microsoft.com/office/powerpoint/2010/main" val="3105606271"/>
              </p:ext>
            </p:extLst>
          </p:nvPr>
        </p:nvGraphicFramePr>
        <p:xfrm>
          <a:off x="581025" y="2813744"/>
          <a:ext cx="11029950" cy="2983100"/>
        </p:xfrm>
        <a:graphic>
          <a:graphicData uri="http://schemas.openxmlformats.org/drawingml/2006/table">
            <a:tbl>
              <a:tblPr firstRow="1" bandRow="1">
                <a:noFill/>
                <a:tableStyleId>{557A7931-4040-48F4-AB53-43AF096A9C82}</a:tableStyleId>
              </a:tblPr>
              <a:tblGrid>
                <a:gridCol w="220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5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5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Rajdhani"/>
                          <a:ea typeface="Rajdhani"/>
                          <a:cs typeface="Rajdhani"/>
                          <a:sym typeface="Rajdhani"/>
                        </a:rPr>
                        <a:t>Funcionalidade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6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Rajdhani"/>
                          <a:ea typeface="Rajdhani"/>
                          <a:cs typeface="Rajdhani"/>
                          <a:sym typeface="Rajdhani"/>
                        </a:rPr>
                        <a:t>Padrão / Domínio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600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FFFFFF"/>
                          </a:solidFill>
                          <a:latin typeface="Rajdhani"/>
                          <a:ea typeface="Rajdhani"/>
                          <a:cs typeface="Rajdhani"/>
                          <a:sym typeface="Rajdhani"/>
                        </a:rPr>
                        <a:t>Descrição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60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5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Consulta &amp;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Cadastro</a:t>
                      </a:r>
                      <a:endParaRPr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E5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TMF632 Customer Management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Padronização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APIs para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gestão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ciclo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vida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do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cliente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</a:t>
                      </a:r>
                      <a:endParaRPr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5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Notificação</a:t>
                      </a:r>
                      <a:endParaRPr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E5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TMF677 Customer Notification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Eventos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alteração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dados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cadastrais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</a:t>
                      </a:r>
                      <a:endParaRPr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5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Eventos</a:t>
                      </a:r>
                      <a:endParaRPr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0E5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TM Forum Events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Padrão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payload para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mensagens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500" b="0" i="0" u="none" strike="noStrike" cap="none" dirty="0" err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assíncronas</a:t>
                      </a:r>
                      <a:r>
                        <a:rPr lang="en-US" sz="1500" b="0" i="0" u="none" strike="noStrike" cap="non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.</a:t>
                      </a:r>
                      <a:endParaRPr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0" name="Google Shape;240;p21"/>
          <p:cNvSpPr/>
          <p:nvPr/>
        </p:nvSpPr>
        <p:spPr>
          <a:xfrm>
            <a:off x="581025" y="4477642"/>
            <a:ext cx="220637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2787401" y="4477642"/>
            <a:ext cx="323805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6025455" y="4477642"/>
            <a:ext cx="558551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581025" y="5134867"/>
            <a:ext cx="220637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2787401" y="5134867"/>
            <a:ext cx="323805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6025455" y="5134867"/>
            <a:ext cx="558551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 txBox="1"/>
          <p:nvPr/>
        </p:nvSpPr>
        <p:spPr>
          <a:xfrm>
            <a:off x="762000" y="571500"/>
            <a:ext cx="1140142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PADRONIZAÇÃO TM FORUM</a:t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571500" y="571500"/>
            <a:ext cx="47625" cy="59055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Google Shape;25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2"/>
          <p:cNvSpPr txBox="1"/>
          <p:nvPr/>
        </p:nvSpPr>
        <p:spPr>
          <a:xfrm>
            <a:off x="4060745" y="2670869"/>
            <a:ext cx="4070508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CONCLUSÃO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2286000" y="3737669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arquitetura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desacoplada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orientada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a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eventos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somada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a um MDM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centralizado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garante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uma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1" i="0" u="none" strike="noStrike" cap="none" dirty="0" err="1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latência</a:t>
            </a:r>
            <a:r>
              <a:rPr lang="en-US" sz="1800" b="1" i="0" u="none" strike="noStrike" cap="none" dirty="0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1" i="0" u="none" strike="noStrike" cap="none" dirty="0" err="1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ultrabaixa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800" b="1" i="0" u="none" strike="noStrike" cap="none" dirty="0" err="1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alta</a:t>
            </a:r>
            <a:r>
              <a:rPr lang="en-US" sz="1800" b="1" i="0" u="none" strike="noStrike" cap="none" dirty="0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800" b="1" i="0" u="none" strike="noStrike" cap="none" dirty="0" err="1">
                <a:solidFill>
                  <a:srgbClr val="00E5FF"/>
                </a:solidFill>
                <a:latin typeface="Inter"/>
                <a:ea typeface="Inter"/>
                <a:cs typeface="Inter"/>
                <a:sym typeface="Inter"/>
              </a:rPr>
              <a:t>consistência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de dados,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transformando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a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experiência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do </a:t>
            </a:r>
            <a:r>
              <a:rPr lang="en-US" sz="1800" b="0" i="0" u="none" strike="noStrike" cap="none" dirty="0" err="1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cliente</a:t>
            </a:r>
            <a:r>
              <a:rPr lang="en-US" sz="1800" b="0" i="0" u="none" strike="noStrike" cap="none" dirty="0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 VIVO.</a:t>
            </a:r>
            <a:endParaRPr dirty="0"/>
          </a:p>
        </p:txBody>
      </p:sp>
      <p:pic>
        <p:nvPicPr>
          <p:cNvPr id="255" name="Google Shape;25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43587" y="1851719"/>
            <a:ext cx="504825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588</Words>
  <Application>Microsoft Office PowerPoint</Application>
  <PresentationFormat>Widescreen</PresentationFormat>
  <Paragraphs>85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Rajdhani</vt:lpstr>
      <vt:lpstr>Inter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Anderson Cicero Feitosa da Silva</cp:lastModifiedBy>
  <cp:revision>1</cp:revision>
  <dcterms:modified xsi:type="dcterms:W3CDTF">2025-12-02T17:08:23Z</dcterms:modified>
</cp:coreProperties>
</file>