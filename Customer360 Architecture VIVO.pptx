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Rajdhani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7A7931-4040-48F4-AB53-43AF096A9C82}">
  <a:tblStyle styleId="{557A7931-4040-48F4-AB53-43AF096A9C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720B3430-BCAF-6286-EA58-59068BAA5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>
            <a:extLst>
              <a:ext uri="{FF2B5EF4-FFF2-40B4-BE49-F238E27FC236}">
                <a16:creationId xmlns:a16="http://schemas.microsoft.com/office/drawing/2014/main" id="{5AC2490D-A3A4-54AF-9265-E9628C34E3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>
            <a:extLst>
              <a:ext uri="{FF2B5EF4-FFF2-40B4-BE49-F238E27FC236}">
                <a16:creationId xmlns:a16="http://schemas.microsoft.com/office/drawing/2014/main" id="{E1C20210-F71B-208A-1125-096FB4410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197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422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35605" y="2092672"/>
            <a:ext cx="632079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CUSTOMER 360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086100" y="3246171"/>
            <a:ext cx="6019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3B3B3"/>
                </a:solidFill>
                <a:latin typeface="Inter"/>
                <a:ea typeface="Inter"/>
                <a:cs typeface="Inter"/>
                <a:sym typeface="Inter"/>
              </a:rPr>
              <a:t>Ponto Único de Consulta | VIVO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62000" y="762000"/>
            <a:ext cx="50006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O DESAFIO &amp; VISÃO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762000"/>
            <a:ext cx="47625" cy="59055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814512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PONTO ÚNICO DE VERDADE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4907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Superar a fragmentação de dados entre Sistemas de Registro (SORs), Legados e Salesforce para criar uma visão unificada.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04850" y="39957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39957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Meta de Latência: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Resposta abaixo de 1ms.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04850" y="43957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4395787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Consultar o "Melhor Dado" em um único ponto (API).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4850" y="51006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5100637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Solução: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Cliente Data Hub (CDH) baseado em Arquitetura Orientada a Eventos (EDA).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096000" y="0"/>
            <a:ext cx="6096000" cy="6858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742950"/>
            <a:ext cx="53340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742950"/>
            <a:ext cx="53340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05275"/>
            <a:ext cx="53340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105275"/>
            <a:ext cx="53340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48188" y="1790700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DATA HUB READ-STORE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2324100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Fonte única de consulta (Customer Query API) alimentada por um modelo de dados desnormalizado e em memória.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63188" y="1790700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EVENT-DRIVEN (CDC)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81775" y="2324100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Alimentação contínua via Change Data Capture (CDC) e mensageria vinda dos legados e do Salesforce.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48188" y="5153025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ENRIQUECIMENTO &amp; MDM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66775" y="5686425"/>
            <a:ext cx="4743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Pipeline robusto de regras de precedência e Master Data Management para garantir a qualidade do dado.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63188" y="5153025"/>
            <a:ext cx="498062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ULTRA-FAST ACCESS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81775" y="5686425"/>
            <a:ext cx="4743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Persistência de vistas prontas em Redis e Elastic. A API nunca consulta sistemas legados online.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8475" y="10858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24900" y="10858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9900" y="4448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53475" y="44481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48200" y="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ESTRATÉGIA RESUMIDA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-228600"/>
            <a:ext cx="47625" cy="59055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762000"/>
            <a:ext cx="500062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FLUXO DE DADOS &amp; ARQUITETURA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762000"/>
            <a:ext cx="47625" cy="11811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2514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O fluxo desacopla completamente a leitura da escrita.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04850" y="3181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09625" y="318135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Origem: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Salesforce &amp; Oracle Legacy (via Debezium/CDC).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04850" y="3886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09625" y="38862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Transporte: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Tópicos Kafka garantem a ordenação e entrega.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04850" y="45910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09625" y="459105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Processamento: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Stream Processors aplicam regras de negócio.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04850" y="52959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09625" y="529590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Consolidação: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MDM Service gera o "Golden Record".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04850" y="60007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09625" y="6000750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Destino: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Redis (Hot Data) e Elastic (Search Index).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6096000" y="0"/>
            <a:ext cx="6096000" cy="73342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095375"/>
            <a:ext cx="349240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095375"/>
            <a:ext cx="3492549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095375"/>
            <a:ext cx="349240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57650"/>
            <a:ext cx="349240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4057650"/>
            <a:ext cx="3492549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4057650"/>
            <a:ext cx="349240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94228" y="2143125"/>
            <a:ext cx="30469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API GATEWAY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66775" y="2676525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Kong ou AWS/Azure API Gateway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572375" y="2143125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MICROSSERVIÇOS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44925" y="2676525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Spring Boot (Java) ou Quarkus (Java/Kotlin)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350679" y="2143125"/>
            <a:ext cx="30469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BROKER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423225" y="2676525"/>
            <a:ext cx="2901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Apache Kafka ou RabbitMQ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94228" y="5105400"/>
            <a:ext cx="30469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CACHE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66775" y="5638800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Redis ou Hazelcast (Read-Store)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4572375" y="5105400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DATABASE (SSOT)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644925" y="5638800"/>
            <a:ext cx="29019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PostgreSQL ou MongoDB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350679" y="5105400"/>
            <a:ext cx="30469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CDC (LEGACY)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423225" y="5638800"/>
            <a:ext cx="2901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Debezium</a:t>
            </a:r>
            <a:endParaRPr/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9100" y="14382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251" y="14382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550" y="14382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60525" y="44005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95826" y="44005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45550" y="44005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762000" y="123825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FRAMEWORKS E TECNOLOGIAS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71500" y="123825"/>
            <a:ext cx="47625" cy="59055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52650"/>
            <a:ext cx="528637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571500" y="23336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1. REGRAS DE DEFINIÇÃO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28670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Definição lógica de qual sistema é a Fonte de Verdade (System of Record) para cada atributo específico do cliente.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41624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2. MODELO CANÔNICO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71500" y="46958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Estrutura de dados padrão, única e centralizada usada pelo CDH para armazenar o Golden Record.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753225" y="2543175"/>
            <a:ext cx="47005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E5FF"/>
                </a:solidFill>
                <a:latin typeface="Rajdhani"/>
                <a:ea typeface="Rajdhani"/>
                <a:cs typeface="Rajdhani"/>
                <a:sym typeface="Rajdhani"/>
              </a:rPr>
              <a:t>FLUXO DE ESCRITA (ASYNC)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753225" y="303847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Alteração no CRM ou Legado.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753225" y="353377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Publicação de Evento (CDC/Broker).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753225" y="402907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Customer Sync Worker</a:t>
            </a: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consome e aplica regras.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753225" y="482917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Atualização do Customer360 DB.</a:t>
            </a:r>
            <a:endParaRPr/>
          </a:p>
        </p:txBody>
      </p:sp>
      <p:pic>
        <p:nvPicPr>
          <p:cNvPr id="193" name="Google Shape;19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3225" y="309562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53225" y="359092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53225" y="40862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53225" y="488632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GOLDEN RECORD E CONSOLIDAÇÃO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71500" y="571500"/>
            <a:ext cx="47625" cy="59055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4790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25742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704850" y="22574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809625" y="22574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Prioridade do Cache: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A API consulta primeiramente o Redis. Cache Hit = Resposta imediata.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04850" y="34575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09625" y="34575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Atualização Controlada: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O Sync Worker é o único responsável por invalidar ou atualizar chaves, garantindo consistência.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704850" y="4657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09625" y="46577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APIficação TMF632: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Aderência a padrões globais de Telecom para interoperabilidade.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PERFORMANCE: COMO ATINGIR &lt; 1MS?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571500" y="571500"/>
            <a:ext cx="47625" cy="59055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762000" y="762000"/>
            <a:ext cx="50006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RESILIÊNCIA E ROBUSTEZ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71500" y="762000"/>
            <a:ext cx="47625" cy="59055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571500" y="1733550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PERSISTÊNCIA KAFKA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71500" y="2266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Consistência eventual garantida. Se o Worker falhar, eventos são retidos e processados na volta.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571500" y="3257550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DEAD LETTER QUEUE (DLQ)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571500" y="3790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Mensagens com erro ("poison pills") são isoladas para não travar o tópico.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571500" y="4781550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CIRCUIT BREAKER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571500" y="5314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Protege a API de falhas no Redis/DB, permitindo fallback gracioso.</a:t>
            </a:r>
            <a:endParaRPr/>
          </a:p>
        </p:txBody>
      </p:sp>
      <p:pic>
        <p:nvPicPr>
          <p:cNvPr id="228" name="Google Shape;22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526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766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006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/>
          <p:nvPr/>
        </p:nvSpPr>
        <p:spPr>
          <a:xfrm>
            <a:off x="6096000" y="0"/>
            <a:ext cx="6096000" cy="68770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4219"/>
            <a:ext cx="11049000" cy="3002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571500" y="2213669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 arquitetura segue padrões da indústria para facilitar a interoperabilidade.</a:t>
            </a:r>
            <a:endParaRPr/>
          </a:p>
        </p:txBody>
      </p:sp>
      <p:graphicFrame>
        <p:nvGraphicFramePr>
          <p:cNvPr id="239" name="Google Shape;239;p21"/>
          <p:cNvGraphicFramePr/>
          <p:nvPr>
            <p:extLst>
              <p:ext uri="{D42A27DB-BD31-4B8C-83A1-F6EECF244321}">
                <p14:modId xmlns:p14="http://schemas.microsoft.com/office/powerpoint/2010/main" val="3105606271"/>
              </p:ext>
            </p:extLst>
          </p:nvPr>
        </p:nvGraphicFramePr>
        <p:xfrm>
          <a:off x="581025" y="2813744"/>
          <a:ext cx="11029950" cy="2983100"/>
        </p:xfrm>
        <a:graphic>
          <a:graphicData uri="http://schemas.openxmlformats.org/drawingml/2006/table">
            <a:tbl>
              <a:tblPr firstRow="1" bandRow="1">
                <a:noFill/>
                <a:tableStyleId>{557A7931-4040-48F4-AB53-43AF096A9C82}</a:tableStyleId>
              </a:tblPr>
              <a:tblGrid>
                <a:gridCol w="220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Funcionalidade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Padrão / Domínio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Descrição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Consulta &amp; </a:t>
                      </a: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Cadastro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E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TMF632 Customer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Padronização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de APIs para </a:t>
                      </a: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gestão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ciclo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vida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do </a:t>
                      </a: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cliente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Notificação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E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TMF677 Customer Notification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Eventos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de </a:t>
                      </a: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alteração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de dados </a:t>
                      </a: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cadastrais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Eventos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E5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TM Forum Events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Padrão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de payload para </a:t>
                      </a: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mensagens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assíncronas</a:t>
                      </a:r>
                      <a:r>
                        <a:rPr lang="en-US" sz="15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0" name="Google Shape;240;p21"/>
          <p:cNvSpPr/>
          <p:nvPr/>
        </p:nvSpPr>
        <p:spPr>
          <a:xfrm>
            <a:off x="581025" y="4477642"/>
            <a:ext cx="22063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2787401" y="4477642"/>
            <a:ext cx="32380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025455" y="4477642"/>
            <a:ext cx="55855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81025" y="5134867"/>
            <a:ext cx="22063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2787401" y="5134867"/>
            <a:ext cx="32380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025455" y="5134867"/>
            <a:ext cx="55855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PADRONIZAÇÃO TM FORUM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71500" y="571500"/>
            <a:ext cx="47625" cy="59055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B15303CD-F04E-E5F6-42F0-0588C284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 descr="image.png">
            <a:extLst>
              <a:ext uri="{FF2B5EF4-FFF2-40B4-BE49-F238E27FC236}">
                <a16:creationId xmlns:a16="http://schemas.microsoft.com/office/drawing/2014/main" id="{8F2947A0-2714-4DDA-9E4F-91E5A6B062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>
            <a:extLst>
              <a:ext uri="{FF2B5EF4-FFF2-40B4-BE49-F238E27FC236}">
                <a16:creationId xmlns:a16="http://schemas.microsoft.com/office/drawing/2014/main" id="{854BDCB7-9964-B994-A419-41B841085D71}"/>
              </a:ext>
            </a:extLst>
          </p:cNvPr>
          <p:cNvSpPr txBox="1"/>
          <p:nvPr/>
        </p:nvSpPr>
        <p:spPr>
          <a:xfrm>
            <a:off x="720029" y="202045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DIAGRAMA CUSTOMER360 / VIVO</a:t>
            </a:r>
          </a:p>
        </p:txBody>
      </p:sp>
      <p:sp>
        <p:nvSpPr>
          <p:cNvPr id="247" name="Google Shape;247;p21">
            <a:extLst>
              <a:ext uri="{FF2B5EF4-FFF2-40B4-BE49-F238E27FC236}">
                <a16:creationId xmlns:a16="http://schemas.microsoft.com/office/drawing/2014/main" id="{618BB145-E30C-3E5D-84C1-C4A2CE63584A}"/>
              </a:ext>
            </a:extLst>
          </p:cNvPr>
          <p:cNvSpPr/>
          <p:nvPr/>
        </p:nvSpPr>
        <p:spPr>
          <a:xfrm>
            <a:off x="598632" y="202045"/>
            <a:ext cx="47625" cy="59055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B236B7B1-3B3D-E17A-55C6-BCFDD6CC0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467" y="756043"/>
            <a:ext cx="9201406" cy="596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36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4060745" y="2670869"/>
            <a:ext cx="407050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CONCLUSÃO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2286000" y="373766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arquitetura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desacoplada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orientada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eventos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somada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a um MDM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centralizado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garante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uma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latência</a:t>
            </a:r>
            <a:r>
              <a:rPr lang="en-US" sz="1800" b="1" i="0" u="none" strike="noStrike" cap="none" dirty="0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ultrabaixa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800" b="1" i="0" u="none" strike="noStrike" cap="none" dirty="0" err="1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alta</a:t>
            </a:r>
            <a:r>
              <a:rPr lang="en-US" sz="1800" b="1" i="0" u="none" strike="noStrike" cap="none" dirty="0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 err="1">
                <a:solidFill>
                  <a:srgbClr val="00E5FF"/>
                </a:solidFill>
                <a:latin typeface="Inter"/>
                <a:ea typeface="Inter"/>
                <a:cs typeface="Inter"/>
                <a:sym typeface="Inter"/>
              </a:rPr>
              <a:t>consistência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de dados,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transformando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experiência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800" b="0" i="0" u="none" strike="noStrike" cap="none" dirty="0" err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cliente</a:t>
            </a:r>
            <a:r>
              <a:rPr lang="en-US" sz="1800" b="0" i="0" u="none" strike="noStrike" cap="none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 VIVO.</a:t>
            </a:r>
            <a:endParaRPr dirty="0"/>
          </a:p>
        </p:txBody>
      </p:sp>
      <p:pic>
        <p:nvPicPr>
          <p:cNvPr id="255" name="Google Shape;25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3587" y="1851719"/>
            <a:ext cx="5048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592</Words>
  <Application>Microsoft Office PowerPoint</Application>
  <PresentationFormat>Widescreen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Rajdhani</vt:lpstr>
      <vt:lpstr>Inter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Anderson Cicero Feitosa da Silva</cp:lastModifiedBy>
  <cp:revision>2</cp:revision>
  <dcterms:modified xsi:type="dcterms:W3CDTF">2025-12-02T17:21:26Z</dcterms:modified>
</cp:coreProperties>
</file>